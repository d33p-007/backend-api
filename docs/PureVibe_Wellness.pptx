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Arimo"/>
      <p:regular r:id="rId16"/>
      <p:bold r:id="rId17"/>
      <p:italic r:id="rId18"/>
      <p:boldItalic r:id="rId19"/>
    </p:embeddedFont>
    <p:embeddedFont>
      <p:font typeface="Arimo SemiBold"/>
      <p:regular r:id="rId20"/>
      <p:bold r:id="rId21"/>
      <p:italic r:id="rId22"/>
      <p:boldItalic r:id="rId23"/>
    </p:embeddedFont>
    <p:embeddedFont>
      <p:font typeface="Arimo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SemiBold-regular.fntdata"/><Relationship Id="rId22" Type="http://schemas.openxmlformats.org/officeDocument/2006/relationships/font" Target="fonts/ArimoSemiBold-italic.fntdata"/><Relationship Id="rId21" Type="http://schemas.openxmlformats.org/officeDocument/2006/relationships/font" Target="fonts/ArimoSemiBold-bold.fntdata"/><Relationship Id="rId24" Type="http://schemas.openxmlformats.org/officeDocument/2006/relationships/font" Target="fonts/ArimoMedium-regular.fntdata"/><Relationship Id="rId23" Type="http://schemas.openxmlformats.org/officeDocument/2006/relationships/font" Target="fonts/Arimo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moMedium-italic.fntdata"/><Relationship Id="rId25" Type="http://schemas.openxmlformats.org/officeDocument/2006/relationships/font" Target="fonts/ArimoMedium-bold.fntdata"/><Relationship Id="rId27" Type="http://schemas.openxmlformats.org/officeDocument/2006/relationships/font" Target="fonts/Arimo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mo-bold.fntdata"/><Relationship Id="rId16" Type="http://schemas.openxmlformats.org/officeDocument/2006/relationships/font" Target="fonts/Arimo-regular.fntdata"/><Relationship Id="rId19" Type="http://schemas.openxmlformats.org/officeDocument/2006/relationships/font" Target="fonts/Arimo-boldItalic.fntdata"/><Relationship Id="rId18" Type="http://schemas.openxmlformats.org/officeDocument/2006/relationships/font" Target="fonts/Arim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eb6f478d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eb6f478d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b6f478d8a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eb6f478d8a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b6f478d8a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eb6f478d8a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eb6f478d8a_0_9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eb6f478d8a_0_9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b6f478d8a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eb6f478d8a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eb6f478d8a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eb6f478d8a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eb6f478d8a_0_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eb6f478d8a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eb6f478d8a_0_1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eb6f478d8a_0_1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eb6f478d8a_0_1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eb6f478d8a_0_1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eacea3886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eacea3886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19" name="Google Shape;19;p3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3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1" name="Google Shape;21;p3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24" name="Google Shape;24;p3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9" name="Google Shape;29;p4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0" name="Google Shape;30;p4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1" name="Google Shape;31;p4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2" name="Google Shape;32;p4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3" name="Google Shape;33;p4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7" name="Google Shape;37;p4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8" name="Google Shape;38;p4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9" name="Google Shape;39;p4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0" name="Google Shape;40;p4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1" name="Google Shape;41;p4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2" name="Google Shape;42;p4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7" name="Google Shape;57;p5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8" name="Google Shape;58;p5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9" name="Google Shape;59;p5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0" name="Google Shape;60;p5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1" name="Google Shape;61;p5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6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5" name="Google Shape;75;p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7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78" name="Google Shape;78;p7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79" name="Google Shape;79;p7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0" name="Google Shape;80;p7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1" name="Google Shape;81;p7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2" name="Google Shape;82;p7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92" name="Google Shape;92;p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3" name="Google Shape;93;p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9"/>
          <p:cNvPicPr preferRelativeResize="0"/>
          <p:nvPr/>
        </p:nvPicPr>
        <p:blipFill rotWithShape="1">
          <a:blip r:embed="rId2">
            <a:alphaModFix amt="10000"/>
          </a:blip>
          <a:srcRect b="720" l="1068" r="20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97" name="Google Shape;97;p9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0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2" name="Google Shape;102;p10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4" name="Google Shape;104;p10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5" name="Google Shape;105;p10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6" name="Google Shape;106;p1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09" name="Google Shape;109;p11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10" name="Google Shape;110;p11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11" name="Google Shape;111;p11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8" name="Google Shape;118;p12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19" name="Google Shape;119;p12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6" name="Google Shape;126;p13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14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6" name="Google Shape;136;p14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7" name="Google Shape;137;p14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8" name="Google Shape;138;p14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1" name="Google Shape;141;p15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2" name="Google Shape;142;p15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3" name="Google Shape;143;p1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5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8" name="Google Shape;148;p15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9" name="Google Shape;149;p15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50" name="Google Shape;150;p15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5" name="Google Shape;155;p16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6" name="Google Shape;156;p16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7" name="Google Shape;157;p16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16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17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4" name="Google Shape;174;p17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5" name="Google Shape;175;p17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6" name="Google Shape;176;p17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7" name="Google Shape;177;p17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83" name="Google Shape;183;p18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184" name="Google Shape;184;p18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5" name="Google Shape;185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8" name="Google Shape;188;p19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89" name="Google Shape;189;p19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0" name="Google Shape;190;p19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1" name="Google Shape;191;p19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2" name="Google Shape;192;p19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3" name="Google Shape;193;p19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4" name="Google Shape;194;p19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5" name="Google Shape;195;p19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19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7" name="Google Shape;197;p19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1" name="Google Shape;201;p19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05" name="Google Shape;205;p20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3" name="Google Shape;213;p21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5" name="Google Shape;215;p21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16" name="Google Shape;216;p21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17" name="Google Shape;217;p21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18" name="Google Shape;218;p21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19" name="Google Shape;219;p21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20" name="Google Shape;220;p21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21" name="Google Shape;221;p21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3" name="Google Shape;223;p21"/>
          <p:cNvCxnSpPr>
            <a:stCxn id="221" idx="1"/>
            <a:endCxn id="221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1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8" name="Google Shape;228;p21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9" name="Google Shape;229;p21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21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1" name="Google Shape;231;p21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2" name="Google Shape;232;p21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21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4" name="Google Shape;234;p21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5" name="Google Shape;235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21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39" name="Google Shape;239;p22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40" name="Google Shape;240;p22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2" name="Google Shape;242;p22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22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4" name="Google Shape;244;p2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5" name="Google Shape;245;p22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22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50" name="Google Shape;250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8" name="Google Shape;258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9" name="Google Shape;259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69" name="Google Shape;269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0" name="Google Shape;270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1" name="Google Shape;281;p3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3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3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4" name="Google Shape;284;p3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7" name="Google Shape;287;p3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8" name="Google Shape;288;p3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1" name="Google Shape;291;p3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2" name="Google Shape;292;p3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3" name="Google Shape;293;p3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8" name="Google Shape;298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9" name="Google Shape;299;p3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0" name="Google Shape;300;p3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1" name="Google Shape;301;p3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2" name="Google Shape;302;p3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5" name="Google Shape;305;p3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3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3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9" name="Google Shape;309;p3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3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3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2" name="Google Shape;312;p3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5" name="Google Shape;315;p3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8" name="Google Shape;318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1" name="Google Shape;32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3" name="Google Shape;323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6" name="Google Shape;326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9" name="Google Shape;329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1" name="Google Shape;33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2" name="Google Shape;332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3" name="Google Shape;333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4" name="Google Shape;334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4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5" name="Google Shape;345;p4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43" Type="http://schemas.openxmlformats.org/officeDocument/2006/relationships/theme" Target="../theme/theme2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d33p-007/frontend/blob/main/docs/CIS410-capstone-A-Diagram.pn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hyperlink" Target="https://cis410-flask-app-capstone-frontend-zwqfrn6p5a-uw.a.run.app/" TargetMode="External"/><Relationship Id="rId5" Type="http://schemas.openxmlformats.org/officeDocument/2006/relationships/hyperlink" Target="https://cis410-flask-app-capstone-backend-api-275298851920.us-west1.run.app/api/auth/register" TargetMode="External"/><Relationship Id="rId6" Type="http://schemas.openxmlformats.org/officeDocument/2006/relationships/hyperlink" Target="https://github.com/d33p-007/frontend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is410-flask-app-capstone-backend-api-275298851920.us-west1.run.app/api/auth/register" TargetMode="External"/><Relationship Id="rId4" Type="http://schemas.openxmlformats.org/officeDocument/2006/relationships/hyperlink" Target="https://cis410-flask-app-capstone-backend-api-275298851920.us-west1.run.app/api/auth/login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 txBox="1"/>
          <p:nvPr>
            <p:ph type="title"/>
          </p:nvPr>
        </p:nvSpPr>
        <p:spPr>
          <a:xfrm>
            <a:off x="795525" y="580689"/>
            <a:ext cx="4838100" cy="944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Project </a:t>
            </a: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5"/>
          <p:cNvSpPr txBox="1"/>
          <p:nvPr>
            <p:ph type="title"/>
          </p:nvPr>
        </p:nvSpPr>
        <p:spPr>
          <a:xfrm>
            <a:off x="744881" y="572367"/>
            <a:ext cx="5644200" cy="921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PureVibe Wellness</a:t>
            </a:r>
            <a:endParaRPr/>
          </a:p>
        </p:txBody>
      </p:sp>
      <p:sp>
        <p:nvSpPr>
          <p:cNvPr id="358" name="Google Shape;358;p45"/>
          <p:cNvSpPr txBox="1"/>
          <p:nvPr/>
        </p:nvSpPr>
        <p:spPr>
          <a:xfrm>
            <a:off x="708996" y="1711608"/>
            <a:ext cx="6263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1"/>
                </a:solidFill>
              </a:rPr>
              <a:t>PureVibe Wellness is a web application designed for people looking for a well diet plan and other </a:t>
            </a:r>
            <a:r>
              <a:rPr lang="en" sz="1500">
                <a:solidFill>
                  <a:schemeClr val="lt1"/>
                </a:solidFill>
              </a:rPr>
              <a:t>wellness</a:t>
            </a:r>
            <a:r>
              <a:rPr lang="en" sz="1500">
                <a:solidFill>
                  <a:schemeClr val="lt1"/>
                </a:solidFill>
              </a:rPr>
              <a:t> related solutions. Users can register/login and create their profile. They can look for a healthy diet plan for themselves and their family members. Users can also learn about fitness exercises so they can do at home, such as yoga or stretching.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3" name="Google Shape;363;p46"/>
          <p:cNvCxnSpPr/>
          <p:nvPr/>
        </p:nvCxnSpPr>
        <p:spPr>
          <a:xfrm>
            <a:off x="456800" y="2883475"/>
            <a:ext cx="0" cy="38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64" name="Google Shape;364;p46"/>
          <p:cNvCxnSpPr/>
          <p:nvPr/>
        </p:nvCxnSpPr>
        <p:spPr>
          <a:xfrm>
            <a:off x="1907600" y="2883475"/>
            <a:ext cx="0" cy="38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65" name="Google Shape;365;p46"/>
          <p:cNvCxnSpPr/>
          <p:nvPr/>
        </p:nvCxnSpPr>
        <p:spPr>
          <a:xfrm>
            <a:off x="3358400" y="2883475"/>
            <a:ext cx="0" cy="38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66" name="Google Shape;366;p46"/>
          <p:cNvCxnSpPr/>
          <p:nvPr/>
        </p:nvCxnSpPr>
        <p:spPr>
          <a:xfrm>
            <a:off x="4809200" y="2883475"/>
            <a:ext cx="0" cy="38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67" name="Google Shape;367;p46"/>
          <p:cNvCxnSpPr/>
          <p:nvPr/>
        </p:nvCxnSpPr>
        <p:spPr>
          <a:xfrm>
            <a:off x="6260000" y="2883475"/>
            <a:ext cx="0" cy="38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68" name="Google Shape;368;p46"/>
          <p:cNvSpPr txBox="1"/>
          <p:nvPr>
            <p:ph type="title"/>
          </p:nvPr>
        </p:nvSpPr>
        <p:spPr>
          <a:xfrm>
            <a:off x="277500" y="338042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eam Members</a:t>
            </a:r>
            <a:endParaRPr/>
          </a:p>
        </p:txBody>
      </p:sp>
      <p:sp>
        <p:nvSpPr>
          <p:cNvPr id="369" name="Google Shape;369;p46"/>
          <p:cNvSpPr txBox="1"/>
          <p:nvPr>
            <p:ph idx="16" type="subTitle"/>
          </p:nvPr>
        </p:nvSpPr>
        <p:spPr>
          <a:xfrm>
            <a:off x="370650" y="3429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Pawan Mehra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0" lang="en" sz="800"/>
              <a:t>Project Lead</a:t>
            </a:r>
            <a:endParaRPr sz="800"/>
          </a:p>
        </p:txBody>
      </p:sp>
      <p:sp>
        <p:nvSpPr>
          <p:cNvPr id="370" name="Google Shape;370;p46"/>
          <p:cNvSpPr txBox="1"/>
          <p:nvPr>
            <p:ph idx="17" type="subTitle"/>
          </p:nvPr>
        </p:nvSpPr>
        <p:spPr>
          <a:xfrm>
            <a:off x="1821493" y="3429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Seth Richardson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0" lang="en" sz="800"/>
              <a:t>DevSecOps Engineer</a:t>
            </a:r>
            <a:endParaRPr sz="800"/>
          </a:p>
        </p:txBody>
      </p:sp>
      <p:sp>
        <p:nvSpPr>
          <p:cNvPr id="371" name="Google Shape;371;p46"/>
          <p:cNvSpPr txBox="1"/>
          <p:nvPr>
            <p:ph idx="18" type="subTitle"/>
          </p:nvPr>
        </p:nvSpPr>
        <p:spPr>
          <a:xfrm>
            <a:off x="3272343" y="3429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Ruweda Hassan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0" lang="en" sz="800"/>
              <a:t>Frontend Engineer</a:t>
            </a:r>
            <a:endParaRPr sz="800"/>
          </a:p>
        </p:txBody>
      </p:sp>
      <p:sp>
        <p:nvSpPr>
          <p:cNvPr id="372" name="Google Shape;372;p46"/>
          <p:cNvSpPr txBox="1"/>
          <p:nvPr>
            <p:ph idx="19" type="subTitle"/>
          </p:nvPr>
        </p:nvSpPr>
        <p:spPr>
          <a:xfrm>
            <a:off x="4723193" y="3429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Wesley Ngem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0" lang="en" sz="800"/>
              <a:t>Security Reviewer</a:t>
            </a:r>
            <a:endParaRPr sz="800"/>
          </a:p>
        </p:txBody>
      </p:sp>
      <p:sp>
        <p:nvSpPr>
          <p:cNvPr id="373" name="Google Shape;373;p46"/>
          <p:cNvSpPr txBox="1"/>
          <p:nvPr>
            <p:ph idx="20" type="subTitle"/>
          </p:nvPr>
        </p:nvSpPr>
        <p:spPr>
          <a:xfrm>
            <a:off x="6174375" y="3429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Tre Crowley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0" lang="en" sz="800"/>
              <a:t>Backend Engineer</a:t>
            </a:r>
            <a:endParaRPr sz="800"/>
          </a:p>
        </p:txBody>
      </p:sp>
      <p:pic>
        <p:nvPicPr>
          <p:cNvPr id="374" name="Google Shape;374;p46" title="download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137" y="1588004"/>
            <a:ext cx="1330836" cy="1270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6" title="download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9442" y="1599039"/>
            <a:ext cx="1330836" cy="1270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6" title="download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9520" y="1620948"/>
            <a:ext cx="1330836" cy="1270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6" title="download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6825" y="1621110"/>
            <a:ext cx="1330836" cy="1270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6" title="downloa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5975" y="1619075"/>
            <a:ext cx="1330825" cy="127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47"/>
          <p:cNvPicPr preferRelativeResize="0"/>
          <p:nvPr/>
        </p:nvPicPr>
        <p:blipFill rotWithShape="1">
          <a:blip r:embed="rId3">
            <a:alphaModFix amt="10000"/>
          </a:blip>
          <a:srcRect b="13596" l="3714" r="77644" t="20941"/>
          <a:stretch/>
        </p:blipFill>
        <p:spPr>
          <a:xfrm>
            <a:off x="2026600" y="1591825"/>
            <a:ext cx="1618800" cy="30396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pic>
        <p:nvPicPr>
          <p:cNvPr id="384" name="Google Shape;384;p47"/>
          <p:cNvPicPr preferRelativeResize="0"/>
          <p:nvPr/>
        </p:nvPicPr>
        <p:blipFill rotWithShape="1">
          <a:blip r:embed="rId3">
            <a:alphaModFix amt="10000"/>
          </a:blip>
          <a:srcRect b="13596" l="3714" r="77644" t="20941"/>
          <a:stretch/>
        </p:blipFill>
        <p:spPr>
          <a:xfrm>
            <a:off x="3767250" y="1591825"/>
            <a:ext cx="1618800" cy="30396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pic>
        <p:nvPicPr>
          <p:cNvPr id="385" name="Google Shape;385;p47"/>
          <p:cNvPicPr preferRelativeResize="0"/>
          <p:nvPr/>
        </p:nvPicPr>
        <p:blipFill rotWithShape="1">
          <a:blip r:embed="rId3">
            <a:alphaModFix amt="10000"/>
          </a:blip>
          <a:srcRect b="13596" l="3714" r="77644" t="20941"/>
          <a:stretch/>
        </p:blipFill>
        <p:spPr>
          <a:xfrm>
            <a:off x="5507900" y="1591825"/>
            <a:ext cx="1618800" cy="30396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pic>
        <p:nvPicPr>
          <p:cNvPr id="386" name="Google Shape;386;p47"/>
          <p:cNvPicPr preferRelativeResize="0"/>
          <p:nvPr/>
        </p:nvPicPr>
        <p:blipFill rotWithShape="1">
          <a:blip r:embed="rId3">
            <a:alphaModFix amt="10000"/>
          </a:blip>
          <a:srcRect b="13596" l="3714" r="77644" t="20941"/>
          <a:stretch/>
        </p:blipFill>
        <p:spPr>
          <a:xfrm>
            <a:off x="7248550" y="1591825"/>
            <a:ext cx="1618800" cy="30396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sp>
        <p:nvSpPr>
          <p:cNvPr id="387" name="Google Shape;387;p47"/>
          <p:cNvSpPr txBox="1"/>
          <p:nvPr>
            <p:ph type="title"/>
          </p:nvPr>
        </p:nvSpPr>
        <p:spPr>
          <a:xfrm>
            <a:off x="201381" y="46527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Used</a:t>
            </a:r>
            <a:endParaRPr/>
          </a:p>
        </p:txBody>
      </p:sp>
      <p:sp>
        <p:nvSpPr>
          <p:cNvPr id="388" name="Google Shape;388;p47"/>
          <p:cNvSpPr/>
          <p:nvPr/>
        </p:nvSpPr>
        <p:spPr>
          <a:xfrm>
            <a:off x="2196125" y="1995575"/>
            <a:ext cx="514500" cy="514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9" name="Google Shape;389;p47"/>
          <p:cNvSpPr/>
          <p:nvPr/>
        </p:nvSpPr>
        <p:spPr>
          <a:xfrm>
            <a:off x="3936775" y="1995575"/>
            <a:ext cx="514500" cy="514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90" name="Google Shape;390;p47"/>
          <p:cNvSpPr/>
          <p:nvPr/>
        </p:nvSpPr>
        <p:spPr>
          <a:xfrm>
            <a:off x="5677425" y="1995575"/>
            <a:ext cx="514500" cy="514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91" name="Google Shape;391;p47"/>
          <p:cNvSpPr/>
          <p:nvPr/>
        </p:nvSpPr>
        <p:spPr>
          <a:xfrm>
            <a:off x="7418075" y="1995575"/>
            <a:ext cx="514500" cy="514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92" name="Google Shape;392;p47"/>
          <p:cNvSpPr/>
          <p:nvPr/>
        </p:nvSpPr>
        <p:spPr>
          <a:xfrm>
            <a:off x="2240984" y="2040434"/>
            <a:ext cx="424800" cy="42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93" name="Google Shape;393;p47"/>
          <p:cNvSpPr/>
          <p:nvPr/>
        </p:nvSpPr>
        <p:spPr>
          <a:xfrm>
            <a:off x="3981634" y="2040434"/>
            <a:ext cx="424800" cy="42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94" name="Google Shape;394;p47"/>
          <p:cNvSpPr/>
          <p:nvPr/>
        </p:nvSpPr>
        <p:spPr>
          <a:xfrm>
            <a:off x="5722284" y="2040434"/>
            <a:ext cx="424800" cy="42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95" name="Google Shape;395;p47"/>
          <p:cNvSpPr/>
          <p:nvPr/>
        </p:nvSpPr>
        <p:spPr>
          <a:xfrm>
            <a:off x="7462934" y="2040434"/>
            <a:ext cx="424800" cy="42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96" name="Google Shape;396;p47"/>
          <p:cNvSpPr txBox="1"/>
          <p:nvPr>
            <p:ph idx="3" type="body"/>
          </p:nvPr>
        </p:nvSpPr>
        <p:spPr>
          <a:xfrm>
            <a:off x="2266900" y="30320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is a high-level, multi-purpose programming language known for its clean, English-like syntax that prioritizes readability. Created by Guido van Rossum in 1991.</a:t>
            </a:r>
            <a:r>
              <a:rPr lang="en"/>
              <a:t>.</a:t>
            </a:r>
            <a:endParaRPr/>
          </a:p>
        </p:txBody>
      </p:sp>
      <p:sp>
        <p:nvSpPr>
          <p:cNvPr id="397" name="Google Shape;397;p47"/>
          <p:cNvSpPr txBox="1"/>
          <p:nvPr>
            <p:ph idx="4" type="body"/>
          </p:nvPr>
        </p:nvSpPr>
        <p:spPr>
          <a:xfrm>
            <a:off x="4006850" y="30320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Snyk (pronounced "sneak") is a developer-first security platform that helps software teams find, prioritize, and fix security vulnerabilities in their code, dependencies, containers, and cloud infrastructure.</a:t>
            </a:r>
            <a:endParaRPr/>
          </a:p>
        </p:txBody>
      </p:sp>
      <p:sp>
        <p:nvSpPr>
          <p:cNvPr id="398" name="Google Shape;398;p47"/>
          <p:cNvSpPr txBox="1"/>
          <p:nvPr>
            <p:ph idx="5" type="body"/>
          </p:nvPr>
        </p:nvSpPr>
        <p:spPr>
          <a:xfrm>
            <a:off x="5748200" y="30320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Cloud Platform (GCP) is a suite of cloud computing services that allows you to rent computing power, storage, and databases from Google’s global data centers.</a:t>
            </a:r>
            <a:endParaRPr/>
          </a:p>
        </p:txBody>
      </p:sp>
      <p:sp>
        <p:nvSpPr>
          <p:cNvPr id="399" name="Google Shape;399;p47"/>
          <p:cNvSpPr txBox="1"/>
          <p:nvPr>
            <p:ph idx="6" type="body"/>
          </p:nvPr>
        </p:nvSpPr>
        <p:spPr>
          <a:xfrm>
            <a:off x="7450750" y="30320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is a cloud-based platform where developers store, share, and collaborate on code.</a:t>
            </a:r>
            <a:r>
              <a:rPr lang="en"/>
              <a:t>.</a:t>
            </a:r>
            <a:endParaRPr/>
          </a:p>
        </p:txBody>
      </p:sp>
      <p:sp>
        <p:nvSpPr>
          <p:cNvPr id="400" name="Google Shape;400;p47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</a:t>
            </a:r>
            <a:endParaRPr/>
          </a:p>
        </p:txBody>
      </p:sp>
      <p:sp>
        <p:nvSpPr>
          <p:cNvPr id="401" name="Google Shape;401;p47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Snyk Security</a:t>
            </a:r>
            <a:endParaRPr/>
          </a:p>
        </p:txBody>
      </p:sp>
      <p:sp>
        <p:nvSpPr>
          <p:cNvPr id="402" name="Google Shape;402;p47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GCP Cloud</a:t>
            </a:r>
            <a:endParaRPr/>
          </a:p>
        </p:txBody>
      </p:sp>
      <p:sp>
        <p:nvSpPr>
          <p:cNvPr id="403" name="Google Shape;403;p47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</a:t>
            </a:r>
            <a:endParaRPr/>
          </a:p>
        </p:txBody>
      </p:sp>
      <p:pic>
        <p:nvPicPr>
          <p:cNvPr id="404" name="Google Shape;404;p47"/>
          <p:cNvPicPr preferRelativeResize="0"/>
          <p:nvPr/>
        </p:nvPicPr>
        <p:blipFill rotWithShape="1">
          <a:blip r:embed="rId3">
            <a:alphaModFix amt="10000"/>
          </a:blip>
          <a:srcRect b="13596" l="3714" r="77644" t="20941"/>
          <a:stretch/>
        </p:blipFill>
        <p:spPr>
          <a:xfrm>
            <a:off x="274000" y="1668025"/>
            <a:ext cx="1618800" cy="30396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sp>
        <p:nvSpPr>
          <p:cNvPr id="405" name="Google Shape;405;p47"/>
          <p:cNvSpPr/>
          <p:nvPr/>
        </p:nvSpPr>
        <p:spPr>
          <a:xfrm>
            <a:off x="488384" y="2018605"/>
            <a:ext cx="424800" cy="42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06" name="Google Shape;406;p47"/>
          <p:cNvSpPr txBox="1"/>
          <p:nvPr>
            <p:ph idx="7" type="subTitle"/>
          </p:nvPr>
        </p:nvSpPr>
        <p:spPr>
          <a:xfrm>
            <a:off x="503526" y="2386797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</a:t>
            </a:r>
            <a:endParaRPr/>
          </a:p>
        </p:txBody>
      </p:sp>
      <p:sp>
        <p:nvSpPr>
          <p:cNvPr id="407" name="Google Shape;407;p47"/>
          <p:cNvSpPr txBox="1"/>
          <p:nvPr>
            <p:ph idx="3" type="body"/>
          </p:nvPr>
        </p:nvSpPr>
        <p:spPr>
          <a:xfrm>
            <a:off x="438100" y="30320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HashiCorp Terraform is an Infrastructure as Code (IaC) tool that lets you build, change, and version cloud and on-premise resources safely and efficiently using text-based configuration files.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/>
        </p:nvSpPr>
        <p:spPr>
          <a:xfrm>
            <a:off x="2796850" y="1863850"/>
            <a:ext cx="3882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u="sng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Architecture Diagram</a:t>
            </a:r>
            <a:endParaRPr sz="29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9"/>
          <p:cNvSpPr txBox="1"/>
          <p:nvPr/>
        </p:nvSpPr>
        <p:spPr>
          <a:xfrm>
            <a:off x="959106" y="711181"/>
            <a:ext cx="626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Developer push their code to the working branch and create a pull request to the main branch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18" name="Google Shape;418;p49"/>
          <p:cNvSpPr txBox="1"/>
          <p:nvPr/>
        </p:nvSpPr>
        <p:spPr>
          <a:xfrm>
            <a:off x="1187625" y="1168058"/>
            <a:ext cx="626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19" name="Google Shape;419;p49"/>
          <p:cNvSpPr txBox="1"/>
          <p:nvPr/>
        </p:nvSpPr>
        <p:spPr>
          <a:xfrm>
            <a:off x="970141" y="1439914"/>
            <a:ext cx="626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If all security scan get passed and reviewer approve the pull request, then merge to the main branch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0" name="Google Shape;420;p49"/>
          <p:cNvSpPr txBox="1"/>
          <p:nvPr/>
        </p:nvSpPr>
        <p:spPr>
          <a:xfrm>
            <a:off x="970302" y="2223018"/>
            <a:ext cx="6263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Go to GitHub, click Actions, and then click Deploy to GCP on the left navigation.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1" name="Google Shape;421;p49"/>
          <p:cNvSpPr txBox="1"/>
          <p:nvPr/>
        </p:nvSpPr>
        <p:spPr>
          <a:xfrm>
            <a:off x="970463" y="2908737"/>
            <a:ext cx="6263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On the right side, click Run workflow(make sure branch is selected as main)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2" name="Google Shape;422;p49"/>
          <p:cNvSpPr txBox="1"/>
          <p:nvPr/>
        </p:nvSpPr>
        <p:spPr>
          <a:xfrm>
            <a:off x="981498" y="3626757"/>
            <a:ext cx="626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Now, you will see 2 jobs will run (build, deploy). Build will build a Docker image and push it to GCP artifact. Deploy job will deploy the app to GCP cloud.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3" name="Google Shape;423;p49"/>
          <p:cNvSpPr/>
          <p:nvPr/>
        </p:nvSpPr>
        <p:spPr>
          <a:xfrm>
            <a:off x="488384" y="844191"/>
            <a:ext cx="424800" cy="42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4" name="Google Shape;424;p49"/>
          <p:cNvSpPr/>
          <p:nvPr/>
        </p:nvSpPr>
        <p:spPr>
          <a:xfrm>
            <a:off x="488384" y="1573568"/>
            <a:ext cx="424800" cy="42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5" name="Google Shape;425;p49"/>
          <p:cNvSpPr/>
          <p:nvPr/>
        </p:nvSpPr>
        <p:spPr>
          <a:xfrm>
            <a:off x="488384" y="2335487"/>
            <a:ext cx="424800" cy="42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6" name="Google Shape;426;p49"/>
          <p:cNvSpPr/>
          <p:nvPr/>
        </p:nvSpPr>
        <p:spPr>
          <a:xfrm>
            <a:off x="488384" y="3032242"/>
            <a:ext cx="424800" cy="42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7" name="Google Shape;427;p49"/>
          <p:cNvSpPr/>
          <p:nvPr/>
        </p:nvSpPr>
        <p:spPr>
          <a:xfrm>
            <a:off x="488384" y="3750745"/>
            <a:ext cx="424800" cy="42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8" name="Google Shape;428;p49"/>
          <p:cNvSpPr txBox="1"/>
          <p:nvPr/>
        </p:nvSpPr>
        <p:spPr>
          <a:xfrm>
            <a:off x="3166564" y="189223"/>
            <a:ext cx="626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Deployment Guide</a:t>
            </a:r>
            <a:endParaRPr b="1" sz="23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50"/>
          <p:cNvPicPr preferRelativeResize="0"/>
          <p:nvPr/>
        </p:nvPicPr>
        <p:blipFill rotWithShape="1">
          <a:blip r:embed="rId3">
            <a:alphaModFix amt="10000"/>
          </a:blip>
          <a:srcRect b="14553" l="1069" r="50141" t="20939"/>
          <a:stretch/>
        </p:blipFill>
        <p:spPr>
          <a:xfrm>
            <a:off x="274125" y="1863575"/>
            <a:ext cx="4236300" cy="29952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pic>
        <p:nvPicPr>
          <p:cNvPr id="434" name="Google Shape;434;p50"/>
          <p:cNvPicPr preferRelativeResize="0"/>
          <p:nvPr/>
        </p:nvPicPr>
        <p:blipFill rotWithShape="1">
          <a:blip r:embed="rId3">
            <a:alphaModFix amt="10000"/>
          </a:blip>
          <a:srcRect b="14553" l="1069" r="50141" t="20939"/>
          <a:stretch/>
        </p:blipFill>
        <p:spPr>
          <a:xfrm>
            <a:off x="4631050" y="1863575"/>
            <a:ext cx="4236300" cy="29952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sp>
        <p:nvSpPr>
          <p:cNvPr id="435" name="Google Shape;435;p50"/>
          <p:cNvSpPr/>
          <p:nvPr/>
        </p:nvSpPr>
        <p:spPr>
          <a:xfrm>
            <a:off x="447100" y="2024825"/>
            <a:ext cx="585300" cy="585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36" name="Google Shape;436;p50"/>
          <p:cNvSpPr/>
          <p:nvPr/>
        </p:nvSpPr>
        <p:spPr>
          <a:xfrm>
            <a:off x="4835675" y="2024825"/>
            <a:ext cx="585300" cy="585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37" name="Google Shape;437;p50"/>
          <p:cNvSpPr txBox="1"/>
          <p:nvPr>
            <p:ph type="title"/>
          </p:nvPr>
        </p:nvSpPr>
        <p:spPr>
          <a:xfrm>
            <a:off x="266626" y="177017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audiences</a:t>
            </a:r>
            <a:endParaRPr/>
          </a:p>
        </p:txBody>
      </p:sp>
      <p:grpSp>
        <p:nvGrpSpPr>
          <p:cNvPr id="438" name="Google Shape;438;p50"/>
          <p:cNvGrpSpPr/>
          <p:nvPr/>
        </p:nvGrpSpPr>
        <p:grpSpPr>
          <a:xfrm>
            <a:off x="4983738" y="2184175"/>
            <a:ext cx="289163" cy="266601"/>
            <a:chOff x="4983738" y="2184175"/>
            <a:chExt cx="289163" cy="266601"/>
          </a:xfrm>
        </p:grpSpPr>
        <p:sp>
          <p:nvSpPr>
            <p:cNvPr id="439" name="Google Shape;439;p50"/>
            <p:cNvSpPr/>
            <p:nvPr/>
          </p:nvSpPr>
          <p:spPr>
            <a:xfrm>
              <a:off x="4983738" y="2184175"/>
              <a:ext cx="289150" cy="171300"/>
            </a:xfrm>
            <a:custGeom>
              <a:rect b="b" l="l" r="r" t="t"/>
              <a:pathLst>
                <a:path extrusionOk="0" h="6852" w="11566">
                  <a:moveTo>
                    <a:pt x="0" y="3256"/>
                  </a:moveTo>
                  <a:lnTo>
                    <a:pt x="5540" y="0"/>
                  </a:lnTo>
                  <a:lnTo>
                    <a:pt x="11566" y="3402"/>
                  </a:lnTo>
                  <a:lnTo>
                    <a:pt x="5686" y="6852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440" name="Google Shape;440;p50"/>
            <p:cNvCxnSpPr/>
            <p:nvPr/>
          </p:nvCxnSpPr>
          <p:spPr>
            <a:xfrm>
              <a:off x="5272900" y="2269750"/>
              <a:ext cx="0" cy="114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descr="A graduation cap icon. " id="441" name="Google Shape;441;p50"/>
            <p:cNvSpPr/>
            <p:nvPr/>
          </p:nvSpPr>
          <p:spPr>
            <a:xfrm>
              <a:off x="5020950" y="2287650"/>
              <a:ext cx="207745" cy="163126"/>
            </a:xfrm>
            <a:custGeom>
              <a:rect b="b" l="l" r="r" t="t"/>
              <a:pathLst>
                <a:path extrusionOk="0" h="6172" w="8067">
                  <a:moveTo>
                    <a:pt x="0" y="0"/>
                  </a:moveTo>
                  <a:lnTo>
                    <a:pt x="0" y="4082"/>
                  </a:lnTo>
                  <a:lnTo>
                    <a:pt x="4179" y="6172"/>
                  </a:lnTo>
                  <a:lnTo>
                    <a:pt x="8067" y="3936"/>
                  </a:lnTo>
                  <a:lnTo>
                    <a:pt x="8067" y="243"/>
                  </a:lnTo>
                  <a:lnTo>
                    <a:pt x="4082" y="2478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pic>
        <p:nvPicPr>
          <p:cNvPr descr="A user profile icon. " id="442" name="Google Shape;44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875" y="2141379"/>
            <a:ext cx="255751" cy="321301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50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Customers</a:t>
            </a:r>
            <a:endParaRPr/>
          </a:p>
        </p:txBody>
      </p:sp>
      <p:sp>
        <p:nvSpPr>
          <p:cNvPr id="444" name="Google Shape;444;p50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Wellness Specialist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1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pic>
        <p:nvPicPr>
          <p:cNvPr id="450" name="Google Shape;45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375" y="627900"/>
            <a:ext cx="610500" cy="610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1" name="Google Shape;451;p51"/>
          <p:cNvCxnSpPr/>
          <p:nvPr/>
        </p:nvCxnSpPr>
        <p:spPr>
          <a:xfrm>
            <a:off x="5260800" y="278400"/>
            <a:ext cx="0" cy="458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2" name="Google Shape;452;p51"/>
          <p:cNvSpPr txBox="1"/>
          <p:nvPr/>
        </p:nvSpPr>
        <p:spPr>
          <a:xfrm>
            <a:off x="196529" y="1287188"/>
            <a:ext cx="855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 App - </a:t>
            </a:r>
            <a:r>
              <a:rPr lang="en" sz="1800" u="sng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https://cis410-flask-app-capstone-frontend-zwqfrn6p5a-uw.a.run.app/</a:t>
            </a:r>
            <a:endParaRPr sz="18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3" name="Google Shape;453;p51"/>
          <p:cNvSpPr txBox="1"/>
          <p:nvPr/>
        </p:nvSpPr>
        <p:spPr>
          <a:xfrm>
            <a:off x="196765" y="1842348"/>
            <a:ext cx="8896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API - </a:t>
            </a:r>
            <a:r>
              <a:rPr lang="en" sz="1800" u="sng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https://cis410-flask-app-capstone-backend-api-275298851920.us-west1.run.app/api/auth/register</a:t>
            </a:r>
            <a:endParaRPr sz="18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4" name="Google Shape;454;p51"/>
          <p:cNvSpPr txBox="1"/>
          <p:nvPr/>
        </p:nvSpPr>
        <p:spPr>
          <a:xfrm>
            <a:off x="196765" y="2909148"/>
            <a:ext cx="889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Repo - </a:t>
            </a:r>
            <a:r>
              <a:rPr lang="en" sz="1800" u="sng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https://github.com/d33p-007/frontend</a:t>
            </a:r>
            <a:endParaRPr sz="18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2"/>
          <p:cNvSpPr txBox="1"/>
          <p:nvPr>
            <p:ph type="title"/>
          </p:nvPr>
        </p:nvSpPr>
        <p:spPr>
          <a:xfrm>
            <a:off x="777775" y="381975"/>
            <a:ext cx="4034400" cy="82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backend-API</a:t>
            </a:r>
            <a:endParaRPr/>
          </a:p>
        </p:txBody>
      </p:sp>
      <p:sp>
        <p:nvSpPr>
          <p:cNvPr id="460" name="Google Shape;460;p52"/>
          <p:cNvSpPr txBox="1"/>
          <p:nvPr/>
        </p:nvSpPr>
        <p:spPr>
          <a:xfrm>
            <a:off x="752577" y="1418484"/>
            <a:ext cx="62634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Register: POST </a:t>
            </a:r>
            <a:r>
              <a:rPr lang="en" sz="1600" u="sng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https://cis410-flask-app-capstone-backend-api-275298851920.us-west1.run.app/api/auth/register</a:t>
            </a:r>
            <a:endParaRPr sz="1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Login: POST</a:t>
            </a: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1600" u="sng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https://cis410-flask-app-capstone-backend-api-275298851920.us-west1.run.app/api/auth/login</a:t>
            </a:r>
            <a:endParaRPr sz="1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Register body: {"email": "", "password": "", "full_name": "", "age": 0}</a:t>
            </a:r>
            <a:endParaRPr sz="1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Login body: {"email": "", "password": ""}</a:t>
            </a:r>
            <a:endParaRPr sz="1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3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us anything!</a:t>
            </a:r>
            <a:endParaRPr/>
          </a:p>
        </p:txBody>
      </p:sp>
      <p:pic>
        <p:nvPicPr>
          <p:cNvPr id="466" name="Google Shape;46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375" y="627900"/>
            <a:ext cx="610500" cy="61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